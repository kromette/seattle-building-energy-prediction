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sldIdLst>
    <p:sldId id="256" r:id="rId2"/>
    <p:sldId id="257" r:id="rId3"/>
    <p:sldId id="276" r:id="rId4"/>
    <p:sldId id="305" r:id="rId5"/>
    <p:sldId id="325" r:id="rId6"/>
    <p:sldId id="326" r:id="rId7"/>
    <p:sldId id="303" r:id="rId8"/>
    <p:sldId id="328" r:id="rId9"/>
    <p:sldId id="329" r:id="rId10"/>
    <p:sldId id="321" r:id="rId11"/>
    <p:sldId id="319" r:id="rId12"/>
    <p:sldId id="330" r:id="rId13"/>
    <p:sldId id="331" r:id="rId14"/>
    <p:sldId id="320" r:id="rId15"/>
    <p:sldId id="323" r:id="rId16"/>
    <p:sldId id="308" r:id="rId17"/>
    <p:sldId id="332" r:id="rId18"/>
    <p:sldId id="309" r:id="rId19"/>
    <p:sldId id="315" r:id="rId20"/>
    <p:sldId id="314" r:id="rId21"/>
    <p:sldId id="333" r:id="rId22"/>
    <p:sldId id="335" r:id="rId23"/>
    <p:sldId id="334" r:id="rId24"/>
    <p:sldId id="336" r:id="rId25"/>
    <p:sldId id="337" r:id="rId26"/>
    <p:sldId id="322" r:id="rId27"/>
    <p:sldId id="302" r:id="rId2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4A653A"/>
    <a:srgbClr val="5877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31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4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B6BC2-D036-4233-838F-67F5B210D896}" type="datetimeFigureOut">
              <a:rPr lang="fr-FR" smtClean="0"/>
              <a:t>02/09/2022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76B5B-08A1-4946-A1E9-BC99FEEED7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6797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B6BC2-D036-4233-838F-67F5B210D896}" type="datetimeFigureOut">
              <a:rPr lang="fr-FR" smtClean="0"/>
              <a:t>02/09/2022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76B5B-08A1-4946-A1E9-BC99FEEED7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7195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B6BC2-D036-4233-838F-67F5B210D896}" type="datetimeFigureOut">
              <a:rPr lang="fr-FR" smtClean="0"/>
              <a:t>02/09/2022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76B5B-08A1-4946-A1E9-BC99FEEED7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5152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B6BC2-D036-4233-838F-67F5B210D896}" type="datetimeFigureOut">
              <a:rPr lang="fr-FR" smtClean="0"/>
              <a:t>02/09/2022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76B5B-08A1-4946-A1E9-BC99FEEED7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9234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B6BC2-D036-4233-838F-67F5B210D896}" type="datetimeFigureOut">
              <a:rPr lang="fr-FR" smtClean="0"/>
              <a:t>02/09/2022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76B5B-08A1-4946-A1E9-BC99FEEED7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1096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B6BC2-D036-4233-838F-67F5B210D896}" type="datetimeFigureOut">
              <a:rPr lang="fr-FR" smtClean="0"/>
              <a:t>02/09/2022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76B5B-08A1-4946-A1E9-BC99FEEED7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5929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B6BC2-D036-4233-838F-67F5B210D896}" type="datetimeFigureOut">
              <a:rPr lang="fr-FR" smtClean="0"/>
              <a:t>02/09/2022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76B5B-08A1-4946-A1E9-BC99FEEED7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2190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B6BC2-D036-4233-838F-67F5B210D896}" type="datetimeFigureOut">
              <a:rPr lang="fr-FR" smtClean="0"/>
              <a:t>02/09/2022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76B5B-08A1-4946-A1E9-BC99FEEED7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8080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B6BC2-D036-4233-838F-67F5B210D896}" type="datetimeFigureOut">
              <a:rPr lang="fr-FR" smtClean="0"/>
              <a:t>02/09/2022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76B5B-08A1-4946-A1E9-BC99FEEED7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4824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B6BC2-D036-4233-838F-67F5B210D896}" type="datetimeFigureOut">
              <a:rPr lang="fr-FR" smtClean="0"/>
              <a:t>02/09/2022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76B5B-08A1-4946-A1E9-BC99FEEED7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704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B6BC2-D036-4233-838F-67F5B210D896}" type="datetimeFigureOut">
              <a:rPr lang="fr-FR" smtClean="0"/>
              <a:t>02/09/2022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76B5B-08A1-4946-A1E9-BC99FEEED718}" type="slidenum">
              <a:rPr lang="fr-FR" smtClean="0"/>
              <a:t>‹N°›</a:t>
            </a:fld>
            <a:endParaRPr lang="fr-F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247919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B6BC2-D036-4233-838F-67F5B210D896}" type="datetimeFigureOut">
              <a:rPr lang="fr-FR" smtClean="0"/>
              <a:t>02/09/2022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76B5B-08A1-4946-A1E9-BC99FEEED7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79215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B6BC2-D036-4233-838F-67F5B210D896}" type="datetimeFigureOut">
              <a:rPr lang="fr-FR" smtClean="0"/>
              <a:t>02/09/2022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76B5B-08A1-4946-A1E9-BC99FEEED718}" type="slidenum">
              <a:rPr lang="fr-FR" smtClean="0"/>
              <a:t>‹N°›</a:t>
            </a:fld>
            <a:endParaRPr lang="fr-F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661004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B6BC2-D036-4233-838F-67F5B210D896}" type="datetimeFigureOut">
              <a:rPr lang="fr-FR" smtClean="0"/>
              <a:t>02/09/2022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76B5B-08A1-4946-A1E9-BC99FEEED7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15950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B6BC2-D036-4233-838F-67F5B210D896}" type="datetimeFigureOut">
              <a:rPr lang="fr-FR" smtClean="0"/>
              <a:t>02/09/2022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76B5B-08A1-4946-A1E9-BC99FEEED7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06551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B6BC2-D036-4233-838F-67F5B210D896}" type="datetimeFigureOut">
              <a:rPr lang="fr-FR" smtClean="0"/>
              <a:t>02/09/2022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76B5B-08A1-4946-A1E9-BC99FEEED7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1547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6B6BC2-D036-4233-838F-67F5B210D896}" type="datetimeFigureOut">
              <a:rPr lang="fr-FR" smtClean="0"/>
              <a:t>02/09/2022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2C76B5B-08A1-4946-A1E9-BC99FEEED7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63236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P4 : Anticipez les besoins en consommation de bâtiments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 smtClean="0"/>
              <a:t>Soutenance pour la formation de </a:t>
            </a:r>
            <a:r>
              <a:rPr lang="fr-FR" i="1" dirty="0" smtClean="0"/>
              <a:t>Data </a:t>
            </a:r>
            <a:r>
              <a:rPr lang="en-US" i="1" dirty="0" smtClean="0"/>
              <a:t>Scientist</a:t>
            </a:r>
          </a:p>
          <a:p>
            <a:r>
              <a:rPr lang="en-US" dirty="0" smtClean="0"/>
              <a:t>Aline </a:t>
            </a:r>
            <a:r>
              <a:rPr lang="en-US" dirty="0" err="1" smtClean="0"/>
              <a:t>Pillot</a:t>
            </a:r>
            <a:endParaRPr lang="en-US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618" y="4937759"/>
            <a:ext cx="2609138" cy="1107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458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Context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Seattle </a:t>
            </a:r>
            <a:endParaRPr lang="fr-FR" dirty="0" smtClean="0"/>
          </a:p>
          <a:p>
            <a:r>
              <a:rPr lang="fr-FR" dirty="0" err="1" smtClean="0"/>
              <a:t>Predict</a:t>
            </a:r>
            <a:r>
              <a:rPr lang="fr-FR" dirty="0" smtClean="0"/>
              <a:t> </a:t>
            </a:r>
            <a:r>
              <a:rPr lang="fr-FR" dirty="0" err="1" smtClean="0"/>
              <a:t>energy</a:t>
            </a:r>
            <a:r>
              <a:rPr lang="fr-FR" dirty="0" smtClean="0"/>
              <a:t> </a:t>
            </a:r>
            <a:r>
              <a:rPr lang="fr-FR" dirty="0" smtClean="0"/>
              <a:t>use</a:t>
            </a:r>
          </a:p>
          <a:p>
            <a:r>
              <a:rPr lang="fr-FR" dirty="0" err="1" smtClean="0"/>
              <a:t>Predict</a:t>
            </a:r>
            <a:r>
              <a:rPr lang="fr-FR" dirty="0" smtClean="0"/>
              <a:t> </a:t>
            </a:r>
            <a:r>
              <a:rPr lang="fr-FR" dirty="0" smtClean="0"/>
              <a:t>CO</a:t>
            </a:r>
            <a:r>
              <a:rPr lang="fr-FR" baseline="-25000" dirty="0" smtClean="0"/>
              <a:t>2</a:t>
            </a:r>
            <a:r>
              <a:rPr lang="fr-FR" dirty="0" smtClean="0"/>
              <a:t> </a:t>
            </a:r>
            <a:r>
              <a:rPr lang="fr-FR" dirty="0" err="1" smtClean="0"/>
              <a:t>emission</a:t>
            </a:r>
            <a:endParaRPr lang="fr-FR" dirty="0" smtClean="0"/>
          </a:p>
          <a:p>
            <a:r>
              <a:rPr lang="fr-FR" dirty="0" smtClean="0"/>
              <a:t>Non </a:t>
            </a:r>
            <a:r>
              <a:rPr lang="fr-FR" dirty="0" err="1" smtClean="0"/>
              <a:t>residential</a:t>
            </a:r>
            <a:r>
              <a:rPr lang="fr-FR" dirty="0" smtClean="0"/>
              <a:t> buildings</a:t>
            </a:r>
          </a:p>
          <a:p>
            <a:endParaRPr lang="fr-FR" dirty="0"/>
          </a:p>
          <a:p>
            <a:r>
              <a:rPr lang="fr-FR" dirty="0" err="1" smtClean="0"/>
              <a:t>ENERGYSTARScore</a:t>
            </a: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8071" y="379411"/>
            <a:ext cx="2609314" cy="1109568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1563" y="2027557"/>
            <a:ext cx="3113965" cy="3730692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4098" y="2027557"/>
            <a:ext cx="3144282" cy="3731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316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DataSet</a:t>
            </a:r>
            <a:r>
              <a:rPr lang="fr-FR" dirty="0" smtClean="0"/>
              <a:t> </a:t>
            </a:r>
            <a:r>
              <a:rPr lang="fr-FR" dirty="0" err="1" smtClean="0"/>
              <a:t>Presentation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dirty="0" smtClean="0"/>
              <a:t>Seattle</a:t>
            </a:r>
            <a:endParaRPr lang="fr-FR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fr-FR" dirty="0" smtClean="0"/>
              <a:t>2016</a:t>
            </a:r>
            <a:endParaRPr lang="fr-FR" dirty="0" smtClean="0"/>
          </a:p>
          <a:p>
            <a:pPr>
              <a:buFont typeface="Wingdings" panose="05000000000000000000" pitchFamily="2" charset="2"/>
              <a:buChar char="Ø"/>
            </a:pPr>
            <a:endParaRPr lang="fr-FR" dirty="0"/>
          </a:p>
          <a:p>
            <a:pPr>
              <a:buFont typeface="Wingdings" panose="05000000000000000000" pitchFamily="2" charset="2"/>
              <a:buChar char="Ø"/>
            </a:pPr>
            <a:r>
              <a:rPr lang="fr-FR" dirty="0" smtClean="0"/>
              <a:t>3376 </a:t>
            </a:r>
            <a:r>
              <a:rPr lang="fr-FR" dirty="0" err="1" smtClean="0"/>
              <a:t>rows</a:t>
            </a:r>
            <a:endParaRPr lang="fr-FR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fr-FR" dirty="0" smtClean="0"/>
              <a:t>46 </a:t>
            </a:r>
            <a:r>
              <a:rPr lang="fr-FR" dirty="0" err="1" smtClean="0"/>
              <a:t>columns</a:t>
            </a:r>
            <a:endParaRPr lang="fr-FR" dirty="0" smtClean="0"/>
          </a:p>
          <a:p>
            <a:pPr>
              <a:buFont typeface="Wingdings" panose="05000000000000000000" pitchFamily="2" charset="2"/>
              <a:buChar char="Ø"/>
            </a:pPr>
            <a:endParaRPr lang="fr-FR" dirty="0"/>
          </a:p>
          <a:p>
            <a:pPr>
              <a:buFont typeface="Wingdings" panose="05000000000000000000" pitchFamily="2" charset="2"/>
              <a:buChar char="Ø"/>
            </a:pPr>
            <a:r>
              <a:rPr lang="fr-FR" dirty="0" err="1" smtClean="0"/>
              <a:t>Targets</a:t>
            </a:r>
            <a:r>
              <a:rPr lang="fr-FR" dirty="0" smtClean="0"/>
              <a:t> 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 err="1" smtClean="0"/>
              <a:t>SiteEUIWN</a:t>
            </a:r>
            <a:endParaRPr lang="fr-FR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 err="1" smtClean="0"/>
              <a:t>GHGEmissionIntensity</a:t>
            </a:r>
            <a:endParaRPr lang="fr-FR" dirty="0" smtClean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8571" y="1475121"/>
            <a:ext cx="8602544" cy="5251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951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Cleaning</a:t>
            </a:r>
            <a:r>
              <a:rPr lang="fr-FR" dirty="0" smtClean="0"/>
              <a:t> – main </a:t>
            </a:r>
            <a:r>
              <a:rPr lang="fr-FR" dirty="0" err="1" smtClean="0"/>
              <a:t>steps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dirty="0" err="1" smtClean="0"/>
              <a:t>Selection</a:t>
            </a:r>
            <a:endParaRPr lang="fr-FR" dirty="0" smtClean="0"/>
          </a:p>
          <a:p>
            <a:pPr lvl="1"/>
            <a:r>
              <a:rPr lang="fr-FR" dirty="0" smtClean="0"/>
              <a:t>Non </a:t>
            </a:r>
            <a:r>
              <a:rPr lang="fr-FR" dirty="0" err="1" smtClean="0"/>
              <a:t>residential</a:t>
            </a:r>
            <a:endParaRPr lang="fr-FR" dirty="0" smtClean="0"/>
          </a:p>
          <a:p>
            <a:pPr lvl="1"/>
            <a:r>
              <a:rPr lang="fr-FR" dirty="0" err="1" smtClean="0"/>
              <a:t>Compliant</a:t>
            </a:r>
            <a:r>
              <a:rPr lang="fr-FR" dirty="0" smtClean="0"/>
              <a:t> data</a:t>
            </a:r>
            <a:endParaRPr lang="fr-FR" dirty="0"/>
          </a:p>
          <a:p>
            <a:pPr lvl="1"/>
            <a:endParaRPr lang="fr-FR" dirty="0" smtClean="0"/>
          </a:p>
          <a:p>
            <a:r>
              <a:rPr lang="fr-FR" dirty="0" smtClean="0"/>
              <a:t>Surface</a:t>
            </a:r>
          </a:p>
          <a:p>
            <a:pPr lvl="1"/>
            <a:r>
              <a:rPr lang="fr-FR" dirty="0" smtClean="0"/>
              <a:t>Imputation (</a:t>
            </a:r>
            <a:r>
              <a:rPr lang="fr-FR" dirty="0" err="1" smtClean="0"/>
              <a:t>LargestPUT</a:t>
            </a:r>
            <a:r>
              <a:rPr lang="fr-FR" dirty="0" smtClean="0"/>
              <a:t> and parking)</a:t>
            </a:r>
          </a:p>
          <a:p>
            <a:pPr lvl="1"/>
            <a:r>
              <a:rPr lang="fr-FR" dirty="0" err="1" smtClean="0"/>
              <a:t>Comparison</a:t>
            </a:r>
            <a:endParaRPr lang="fr-FR" dirty="0" smtClean="0"/>
          </a:p>
          <a:p>
            <a:pPr lvl="1"/>
            <a:endParaRPr lang="fr-FR" dirty="0" smtClean="0"/>
          </a:p>
          <a:p>
            <a:r>
              <a:rPr lang="fr-FR" dirty="0" err="1" smtClean="0"/>
              <a:t>Energy</a:t>
            </a:r>
            <a:endParaRPr lang="fr-FR" dirty="0" smtClean="0"/>
          </a:p>
          <a:p>
            <a:pPr lvl="1"/>
            <a:r>
              <a:rPr lang="fr-FR" dirty="0" err="1" smtClean="0"/>
              <a:t>Outliers</a:t>
            </a:r>
            <a:endParaRPr lang="fr-FR" dirty="0"/>
          </a:p>
          <a:p>
            <a:pPr lvl="1"/>
            <a:r>
              <a:rPr lang="fr-FR" dirty="0" err="1" smtClean="0">
                <a:solidFill>
                  <a:schemeClr val="bg2"/>
                </a:solidFill>
              </a:rPr>
              <a:t>Comparison</a:t>
            </a:r>
            <a:endParaRPr lang="fr-FR" dirty="0" smtClean="0">
              <a:solidFill>
                <a:schemeClr val="bg2"/>
              </a:solidFill>
            </a:endParaRPr>
          </a:p>
          <a:p>
            <a:endParaRPr lang="fr-FR" dirty="0" smtClean="0"/>
          </a:p>
          <a:p>
            <a:endParaRPr lang="fr-FR" dirty="0" smtClean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530959" y="1837423"/>
            <a:ext cx="1417122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fr-FR" dirty="0"/>
              <a:t>3376 </a:t>
            </a:r>
            <a:r>
              <a:rPr lang="fr-FR" dirty="0" err="1"/>
              <a:t>rows</a:t>
            </a:r>
            <a:endParaRPr lang="fr-FR" dirty="0"/>
          </a:p>
          <a:p>
            <a:r>
              <a:rPr lang="fr-FR" dirty="0"/>
              <a:t>46 </a:t>
            </a:r>
            <a:r>
              <a:rPr lang="fr-FR" dirty="0" err="1"/>
              <a:t>columns</a:t>
            </a:r>
            <a:endParaRPr lang="fr-FR" dirty="0"/>
          </a:p>
        </p:txBody>
      </p:sp>
      <p:sp>
        <p:nvSpPr>
          <p:cNvPr id="9" name="Rectangle 8"/>
          <p:cNvSpPr/>
          <p:nvPr/>
        </p:nvSpPr>
        <p:spPr>
          <a:xfrm>
            <a:off x="6594294" y="3473942"/>
            <a:ext cx="1417122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fr-FR" dirty="0" smtClean="0"/>
              <a:t>1514 </a:t>
            </a:r>
            <a:r>
              <a:rPr lang="fr-FR" dirty="0" err="1" smtClean="0"/>
              <a:t>rows</a:t>
            </a:r>
            <a:endParaRPr lang="fr-FR" dirty="0"/>
          </a:p>
          <a:p>
            <a:r>
              <a:rPr lang="fr-FR" dirty="0"/>
              <a:t>46 </a:t>
            </a:r>
            <a:r>
              <a:rPr lang="fr-FR" dirty="0" err="1"/>
              <a:t>columns</a:t>
            </a:r>
            <a:endParaRPr lang="fr-FR" dirty="0"/>
          </a:p>
        </p:txBody>
      </p:sp>
      <p:sp>
        <p:nvSpPr>
          <p:cNvPr id="15" name="Flèche courbée vers la droite 14"/>
          <p:cNvSpPr/>
          <p:nvPr/>
        </p:nvSpPr>
        <p:spPr>
          <a:xfrm>
            <a:off x="5174428" y="2000569"/>
            <a:ext cx="1161826" cy="3998845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7413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Outliers</a:t>
            </a:r>
            <a:r>
              <a:rPr lang="fr-FR" dirty="0" smtClean="0"/>
              <a:t> </a:t>
            </a:r>
            <a:r>
              <a:rPr lang="fr-FR" dirty="0" err="1" smtClean="0"/>
              <a:t>Energy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43" y="3868306"/>
            <a:ext cx="4791075" cy="2514600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7262" y="3868306"/>
            <a:ext cx="4743450" cy="2514600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3049" y="1127705"/>
            <a:ext cx="3571875" cy="2514600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5218" y="1215590"/>
            <a:ext cx="3600450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837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Cleaning</a:t>
            </a:r>
            <a:r>
              <a:rPr lang="fr-FR" dirty="0" smtClean="0"/>
              <a:t> – main </a:t>
            </a:r>
            <a:r>
              <a:rPr lang="fr-FR" dirty="0" err="1" smtClean="0"/>
              <a:t>steps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dirty="0" err="1" smtClean="0"/>
              <a:t>Selection</a:t>
            </a:r>
            <a:endParaRPr lang="fr-FR" dirty="0" smtClean="0"/>
          </a:p>
          <a:p>
            <a:pPr lvl="1"/>
            <a:r>
              <a:rPr lang="fr-FR" dirty="0" smtClean="0"/>
              <a:t>Non </a:t>
            </a:r>
            <a:r>
              <a:rPr lang="fr-FR" dirty="0" err="1" smtClean="0"/>
              <a:t>residential</a:t>
            </a:r>
            <a:endParaRPr lang="fr-FR" dirty="0" smtClean="0"/>
          </a:p>
          <a:p>
            <a:pPr lvl="1"/>
            <a:r>
              <a:rPr lang="fr-FR" dirty="0" err="1" smtClean="0"/>
              <a:t>Compliant</a:t>
            </a:r>
            <a:r>
              <a:rPr lang="fr-FR" dirty="0" smtClean="0"/>
              <a:t> data</a:t>
            </a:r>
            <a:endParaRPr lang="fr-FR" dirty="0"/>
          </a:p>
          <a:p>
            <a:pPr lvl="1"/>
            <a:endParaRPr lang="fr-FR" dirty="0" smtClean="0"/>
          </a:p>
          <a:p>
            <a:r>
              <a:rPr lang="fr-FR" dirty="0" smtClean="0"/>
              <a:t>Surface</a:t>
            </a:r>
          </a:p>
          <a:p>
            <a:pPr lvl="1"/>
            <a:r>
              <a:rPr lang="fr-FR" dirty="0" smtClean="0"/>
              <a:t>Imputation (</a:t>
            </a:r>
            <a:r>
              <a:rPr lang="fr-FR" dirty="0" err="1" smtClean="0"/>
              <a:t>LargestPUT</a:t>
            </a:r>
            <a:r>
              <a:rPr lang="fr-FR" dirty="0" smtClean="0"/>
              <a:t> and parking)</a:t>
            </a:r>
          </a:p>
          <a:p>
            <a:pPr lvl="1"/>
            <a:r>
              <a:rPr lang="fr-FR" dirty="0" err="1" smtClean="0"/>
              <a:t>Comparison</a:t>
            </a:r>
            <a:endParaRPr lang="fr-FR" dirty="0" smtClean="0"/>
          </a:p>
          <a:p>
            <a:pPr lvl="1"/>
            <a:endParaRPr lang="fr-FR" dirty="0" smtClean="0"/>
          </a:p>
          <a:p>
            <a:r>
              <a:rPr lang="fr-FR" dirty="0" err="1" smtClean="0"/>
              <a:t>Energy</a:t>
            </a:r>
            <a:endParaRPr lang="fr-FR" dirty="0" smtClean="0"/>
          </a:p>
          <a:p>
            <a:pPr lvl="1"/>
            <a:r>
              <a:rPr lang="fr-FR" dirty="0" err="1" smtClean="0"/>
              <a:t>Outliers</a:t>
            </a:r>
            <a:endParaRPr lang="fr-FR" dirty="0"/>
          </a:p>
          <a:p>
            <a:pPr lvl="1"/>
            <a:r>
              <a:rPr lang="fr-FR" dirty="0" err="1" smtClean="0"/>
              <a:t>Comparison</a:t>
            </a:r>
            <a:endParaRPr lang="fr-FR" dirty="0" smtClean="0"/>
          </a:p>
          <a:p>
            <a:endParaRPr lang="fr-FR" dirty="0" smtClean="0"/>
          </a:p>
          <a:p>
            <a:endParaRPr lang="fr-FR" dirty="0" smtClean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530959" y="1837423"/>
            <a:ext cx="1417122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fr-FR" dirty="0"/>
              <a:t>3376 </a:t>
            </a:r>
            <a:r>
              <a:rPr lang="fr-FR" dirty="0" err="1"/>
              <a:t>rows</a:t>
            </a:r>
            <a:endParaRPr lang="fr-FR" dirty="0"/>
          </a:p>
          <a:p>
            <a:r>
              <a:rPr lang="fr-FR" dirty="0"/>
              <a:t>46 </a:t>
            </a:r>
            <a:r>
              <a:rPr lang="fr-FR" dirty="0" err="1"/>
              <a:t>columns</a:t>
            </a:r>
            <a:endParaRPr lang="fr-FR" dirty="0"/>
          </a:p>
        </p:txBody>
      </p:sp>
      <p:sp>
        <p:nvSpPr>
          <p:cNvPr id="9" name="Rectangle 8"/>
          <p:cNvSpPr/>
          <p:nvPr/>
        </p:nvSpPr>
        <p:spPr>
          <a:xfrm>
            <a:off x="6594294" y="3473942"/>
            <a:ext cx="1417122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fr-FR" dirty="0" smtClean="0"/>
              <a:t>1514 </a:t>
            </a:r>
            <a:r>
              <a:rPr lang="fr-FR" dirty="0" err="1" smtClean="0"/>
              <a:t>rows</a:t>
            </a:r>
            <a:endParaRPr lang="fr-FR" dirty="0"/>
          </a:p>
          <a:p>
            <a:r>
              <a:rPr lang="fr-FR" dirty="0"/>
              <a:t>46 </a:t>
            </a:r>
            <a:r>
              <a:rPr lang="fr-FR" dirty="0" err="1"/>
              <a:t>columns</a:t>
            </a:r>
            <a:endParaRPr lang="fr-FR" dirty="0"/>
          </a:p>
        </p:txBody>
      </p:sp>
      <p:sp>
        <p:nvSpPr>
          <p:cNvPr id="12" name="ZoneTexte 11"/>
          <p:cNvSpPr txBox="1"/>
          <p:nvPr/>
        </p:nvSpPr>
        <p:spPr>
          <a:xfrm>
            <a:off x="6530959" y="5433626"/>
            <a:ext cx="1543793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fr-FR" dirty="0" smtClean="0"/>
              <a:t>1317 </a:t>
            </a:r>
            <a:r>
              <a:rPr lang="fr-FR" dirty="0" err="1" smtClean="0"/>
              <a:t>rows</a:t>
            </a:r>
            <a:endParaRPr lang="fr-FR" dirty="0" smtClean="0"/>
          </a:p>
          <a:p>
            <a:r>
              <a:rPr lang="fr-FR" dirty="0" smtClean="0"/>
              <a:t>16 </a:t>
            </a:r>
            <a:r>
              <a:rPr lang="fr-FR" dirty="0" err="1" smtClean="0"/>
              <a:t>features</a:t>
            </a:r>
            <a:endParaRPr lang="en-US" dirty="0"/>
          </a:p>
        </p:txBody>
      </p:sp>
      <p:sp>
        <p:nvSpPr>
          <p:cNvPr id="15" name="Flèche courbée vers la droite 14"/>
          <p:cNvSpPr/>
          <p:nvPr/>
        </p:nvSpPr>
        <p:spPr>
          <a:xfrm>
            <a:off x="5174428" y="2000569"/>
            <a:ext cx="1161826" cy="3998845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0065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Feature</a:t>
            </a:r>
            <a:r>
              <a:rPr lang="fr-FR" dirty="0" smtClean="0"/>
              <a:t> engineering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 smtClean="0"/>
              <a:t>YearBuilt</a:t>
            </a:r>
            <a:r>
              <a:rPr lang="fr-FR" dirty="0" smtClean="0"/>
              <a:t> </a:t>
            </a:r>
            <a:r>
              <a:rPr lang="fr-FR" dirty="0" smtClean="0"/>
              <a:t>to Age</a:t>
            </a:r>
            <a:endParaRPr lang="fr-FR" dirty="0" smtClean="0"/>
          </a:p>
          <a:p>
            <a:r>
              <a:rPr lang="fr-FR" dirty="0" err="1" smtClean="0"/>
              <a:t>PropertyUseTypes</a:t>
            </a:r>
            <a:r>
              <a:rPr lang="fr-FR" dirty="0" smtClean="0"/>
              <a:t> </a:t>
            </a:r>
            <a:r>
              <a:rPr lang="fr-FR" dirty="0" smtClean="0"/>
              <a:t>: </a:t>
            </a:r>
            <a:r>
              <a:rPr lang="fr-FR" dirty="0" err="1" smtClean="0"/>
              <a:t>OneHotEncoder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proportions</a:t>
            </a:r>
          </a:p>
          <a:p>
            <a:r>
              <a:rPr lang="fr-FR" dirty="0" smtClean="0"/>
              <a:t>Proportions of </a:t>
            </a:r>
            <a:r>
              <a:rPr lang="fr-FR" dirty="0" err="1" smtClean="0"/>
              <a:t>energy</a:t>
            </a:r>
            <a:r>
              <a:rPr lang="fr-FR" dirty="0" smtClean="0"/>
              <a:t> types</a:t>
            </a:r>
            <a:endParaRPr lang="fr-FR" dirty="0"/>
          </a:p>
          <a:p>
            <a:endParaRPr lang="fr-FR" dirty="0"/>
          </a:p>
          <a:p>
            <a:endParaRPr lang="fr-FR" dirty="0" smtClean="0"/>
          </a:p>
          <a:p>
            <a:r>
              <a:rPr lang="fr-FR" dirty="0" err="1" smtClean="0"/>
              <a:t>Feature</a:t>
            </a:r>
            <a:r>
              <a:rPr lang="fr-FR" dirty="0" smtClean="0"/>
              <a:t> </a:t>
            </a:r>
            <a:r>
              <a:rPr lang="fr-FR" dirty="0" err="1" smtClean="0"/>
              <a:t>selection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59776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Feature</a:t>
            </a:r>
            <a:r>
              <a:rPr lang="fr-FR" dirty="0" smtClean="0"/>
              <a:t> </a:t>
            </a:r>
            <a:r>
              <a:rPr lang="fr-FR" dirty="0" err="1" smtClean="0"/>
              <a:t>selection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7334" y="2160589"/>
            <a:ext cx="5357706" cy="3880773"/>
          </a:xfrm>
        </p:spPr>
        <p:txBody>
          <a:bodyPr>
            <a:normAutofit/>
          </a:bodyPr>
          <a:lstStyle/>
          <a:p>
            <a:r>
              <a:rPr lang="fr-FR" dirty="0" err="1" smtClean="0"/>
              <a:t>Correlation</a:t>
            </a:r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435" y="2529346"/>
            <a:ext cx="4476750" cy="341947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418291" y="3744909"/>
            <a:ext cx="3663950" cy="1587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278435" y="3903659"/>
            <a:ext cx="3803806" cy="1587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410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Feature</a:t>
            </a:r>
            <a:r>
              <a:rPr lang="fr-FR" dirty="0" smtClean="0"/>
              <a:t> </a:t>
            </a:r>
            <a:r>
              <a:rPr lang="fr-FR" dirty="0" err="1" smtClean="0"/>
              <a:t>selection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7334" y="2160589"/>
            <a:ext cx="5357706" cy="3880773"/>
          </a:xfrm>
        </p:spPr>
        <p:txBody>
          <a:bodyPr>
            <a:normAutofit/>
          </a:bodyPr>
          <a:lstStyle/>
          <a:p>
            <a:r>
              <a:rPr lang="fr-FR" dirty="0" err="1" smtClean="0"/>
              <a:t>Correlation</a:t>
            </a:r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435" y="2529346"/>
            <a:ext cx="4476750" cy="341947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418291" y="3744909"/>
            <a:ext cx="3663950" cy="1587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278435" y="3903659"/>
            <a:ext cx="3803806" cy="1587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4896" y="1015208"/>
            <a:ext cx="5086350" cy="2514600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6808" y="3982245"/>
            <a:ext cx="4962525" cy="2514600"/>
          </a:xfrm>
          <a:prstGeom prst="rect">
            <a:avLst/>
          </a:prstGeom>
        </p:spPr>
      </p:pic>
      <p:sp>
        <p:nvSpPr>
          <p:cNvPr id="9" name="Espace réservé du contenu 2"/>
          <p:cNvSpPr txBox="1">
            <a:spLocks/>
          </p:cNvSpPr>
          <p:nvPr/>
        </p:nvSpPr>
        <p:spPr>
          <a:xfrm>
            <a:off x="6018900" y="358310"/>
            <a:ext cx="5357706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 err="1" smtClean="0"/>
              <a:t>SelectKBest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3574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Preprocessor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3532339" y="1590565"/>
            <a:ext cx="5213628" cy="364840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à coins arrondis 2"/>
          <p:cNvSpPr/>
          <p:nvPr/>
        </p:nvSpPr>
        <p:spPr>
          <a:xfrm>
            <a:off x="3702170" y="3738088"/>
            <a:ext cx="1923802" cy="97377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 smtClean="0"/>
              <a:t>Numerical</a:t>
            </a:r>
            <a:r>
              <a:rPr lang="fr-FR" dirty="0" smtClean="0"/>
              <a:t> </a:t>
            </a:r>
            <a:r>
              <a:rPr lang="fr-FR" dirty="0" err="1" smtClean="0"/>
              <a:t>features</a:t>
            </a:r>
            <a:endParaRPr lang="en-US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3702170" y="2103912"/>
            <a:ext cx="1923802" cy="97377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 smtClean="0"/>
              <a:t>Categorical</a:t>
            </a:r>
            <a:r>
              <a:rPr lang="fr-FR" dirty="0" smtClean="0"/>
              <a:t> </a:t>
            </a:r>
            <a:r>
              <a:rPr lang="fr-FR" dirty="0" err="1" smtClean="0"/>
              <a:t>features</a:t>
            </a:r>
            <a:endParaRPr lang="en-US" dirty="0"/>
          </a:p>
        </p:txBody>
      </p:sp>
      <p:sp>
        <p:nvSpPr>
          <p:cNvPr id="10" name="Rectangle à coins arrondis 9"/>
          <p:cNvSpPr/>
          <p:nvPr/>
        </p:nvSpPr>
        <p:spPr>
          <a:xfrm>
            <a:off x="5801332" y="3738088"/>
            <a:ext cx="2660165" cy="89137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err="1" smtClean="0"/>
              <a:t>RobustScaler</a:t>
            </a:r>
            <a:endParaRPr lang="en-US" dirty="0"/>
          </a:p>
        </p:txBody>
      </p:sp>
      <p:sp>
        <p:nvSpPr>
          <p:cNvPr id="11" name="Rectangle à coins arrondis 10"/>
          <p:cNvSpPr/>
          <p:nvPr/>
        </p:nvSpPr>
        <p:spPr>
          <a:xfrm>
            <a:off x="5783830" y="2161693"/>
            <a:ext cx="2660165" cy="86591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err="1" smtClean="0"/>
              <a:t>OneHotEncoder</a:t>
            </a:r>
            <a:endParaRPr lang="en-US" dirty="0"/>
          </a:p>
        </p:txBody>
      </p:sp>
      <p:sp>
        <p:nvSpPr>
          <p:cNvPr id="15" name="Rectangle à coins arrondis 14"/>
          <p:cNvSpPr/>
          <p:nvPr/>
        </p:nvSpPr>
        <p:spPr>
          <a:xfrm>
            <a:off x="505618" y="2927881"/>
            <a:ext cx="1923802" cy="97377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 smtClean="0"/>
              <a:t>DataSet</a:t>
            </a:r>
            <a:r>
              <a:rPr lang="fr-FR" dirty="0" smtClean="0"/>
              <a:t> clean</a:t>
            </a:r>
            <a:endParaRPr lang="en-US" dirty="0"/>
          </a:p>
        </p:txBody>
      </p:sp>
      <p:sp>
        <p:nvSpPr>
          <p:cNvPr id="4" name="ZoneTexte 3"/>
          <p:cNvSpPr txBox="1"/>
          <p:nvPr/>
        </p:nvSpPr>
        <p:spPr>
          <a:xfrm>
            <a:off x="7246454" y="4878559"/>
            <a:ext cx="1499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 smtClean="0">
                <a:solidFill>
                  <a:schemeClr val="bg1"/>
                </a:solidFill>
              </a:rPr>
              <a:t>Preprocessor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9" name="Connecteur droit avec flèche 8"/>
          <p:cNvCxnSpPr>
            <a:stCxn id="15" idx="3"/>
            <a:endCxn id="6" idx="1"/>
          </p:cNvCxnSpPr>
          <p:nvPr/>
        </p:nvCxnSpPr>
        <p:spPr>
          <a:xfrm flipV="1">
            <a:off x="2429420" y="2590800"/>
            <a:ext cx="1272750" cy="8239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/>
          <p:cNvCxnSpPr>
            <a:stCxn id="15" idx="3"/>
            <a:endCxn id="3" idx="1"/>
          </p:cNvCxnSpPr>
          <p:nvPr/>
        </p:nvCxnSpPr>
        <p:spPr>
          <a:xfrm>
            <a:off x="2429420" y="3414769"/>
            <a:ext cx="1272750" cy="8102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à coins arrondis 24"/>
          <p:cNvSpPr/>
          <p:nvPr/>
        </p:nvSpPr>
        <p:spPr>
          <a:xfrm>
            <a:off x="9405896" y="2927881"/>
            <a:ext cx="1923802" cy="97377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 smtClean="0"/>
              <a:t>Preprocessed</a:t>
            </a:r>
            <a:r>
              <a:rPr lang="fr-FR" dirty="0" smtClean="0"/>
              <a:t> data</a:t>
            </a:r>
            <a:endParaRPr lang="en-US" dirty="0"/>
          </a:p>
        </p:txBody>
      </p:sp>
      <p:cxnSp>
        <p:nvCxnSpPr>
          <p:cNvPr id="28" name="Connecteur droit avec flèche 27"/>
          <p:cNvCxnSpPr>
            <a:stCxn id="11" idx="3"/>
            <a:endCxn id="25" idx="1"/>
          </p:cNvCxnSpPr>
          <p:nvPr/>
        </p:nvCxnSpPr>
        <p:spPr>
          <a:xfrm>
            <a:off x="8443995" y="2594648"/>
            <a:ext cx="961901" cy="8201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avec flèche 29"/>
          <p:cNvCxnSpPr>
            <a:stCxn id="10" idx="3"/>
            <a:endCxn id="25" idx="1"/>
          </p:cNvCxnSpPr>
          <p:nvPr/>
        </p:nvCxnSpPr>
        <p:spPr>
          <a:xfrm flipV="1">
            <a:off x="8461497" y="3414769"/>
            <a:ext cx="944399" cy="7690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0768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err="1" smtClean="0"/>
              <a:t>Modelisation</a:t>
            </a:r>
            <a:endParaRPr lang="en-US" dirty="0"/>
          </a:p>
        </p:txBody>
      </p:sp>
      <p:sp>
        <p:nvSpPr>
          <p:cNvPr id="5" name="Sous-titr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866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Pipeline</a:t>
            </a:r>
            <a:endParaRPr lang="en-US" dirty="0"/>
          </a:p>
        </p:txBody>
      </p:sp>
      <p:sp>
        <p:nvSpPr>
          <p:cNvPr id="10" name="Rectangle à coins arrondis 9"/>
          <p:cNvSpPr/>
          <p:nvPr/>
        </p:nvSpPr>
        <p:spPr>
          <a:xfrm>
            <a:off x="4926099" y="4155785"/>
            <a:ext cx="2660165" cy="89137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err="1" smtClean="0"/>
              <a:t>Models</a:t>
            </a:r>
            <a:endParaRPr lang="en-US" dirty="0"/>
          </a:p>
        </p:txBody>
      </p:sp>
      <p:sp>
        <p:nvSpPr>
          <p:cNvPr id="11" name="Rectangle à coins arrondis 10"/>
          <p:cNvSpPr/>
          <p:nvPr/>
        </p:nvSpPr>
        <p:spPr>
          <a:xfrm>
            <a:off x="4926099" y="3066902"/>
            <a:ext cx="2660165" cy="86591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err="1" smtClean="0"/>
              <a:t>Preprocessor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4768162" y="2616233"/>
            <a:ext cx="2976038" cy="266789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à coins arrondis 14"/>
          <p:cNvSpPr/>
          <p:nvPr/>
        </p:nvSpPr>
        <p:spPr>
          <a:xfrm>
            <a:off x="5294280" y="182302"/>
            <a:ext cx="1923802" cy="97377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 smtClean="0"/>
              <a:t>DataSet</a:t>
            </a:r>
            <a:r>
              <a:rPr lang="fr-FR" dirty="0" smtClean="0"/>
              <a:t> clean</a:t>
            </a:r>
            <a:endParaRPr lang="en-US" dirty="0"/>
          </a:p>
        </p:txBody>
      </p:sp>
      <p:sp>
        <p:nvSpPr>
          <p:cNvPr id="16" name="Rectangle à coins arrondis 15"/>
          <p:cNvSpPr/>
          <p:nvPr/>
        </p:nvSpPr>
        <p:spPr>
          <a:xfrm>
            <a:off x="2652030" y="1299541"/>
            <a:ext cx="1923802" cy="973776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Train set</a:t>
            </a:r>
          </a:p>
          <a:p>
            <a:pPr algn="ctr"/>
            <a:r>
              <a:rPr lang="fr-FR" dirty="0" smtClean="0"/>
              <a:t>80%</a:t>
            </a:r>
            <a:endParaRPr lang="en-US" dirty="0"/>
          </a:p>
        </p:txBody>
      </p:sp>
      <p:sp>
        <p:nvSpPr>
          <p:cNvPr id="17" name="Rectangle à coins arrondis 16"/>
          <p:cNvSpPr/>
          <p:nvPr/>
        </p:nvSpPr>
        <p:spPr>
          <a:xfrm>
            <a:off x="7958046" y="1301543"/>
            <a:ext cx="1923802" cy="97377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Test set</a:t>
            </a:r>
          </a:p>
          <a:p>
            <a:pPr algn="ctr"/>
            <a:r>
              <a:rPr lang="fr-FR" dirty="0" smtClean="0"/>
              <a:t>20%</a:t>
            </a:r>
            <a:endParaRPr lang="en-US" dirty="0"/>
          </a:p>
        </p:txBody>
      </p:sp>
      <p:sp>
        <p:nvSpPr>
          <p:cNvPr id="21" name="ZoneTexte 20"/>
          <p:cNvSpPr txBox="1"/>
          <p:nvPr/>
        </p:nvSpPr>
        <p:spPr>
          <a:xfrm>
            <a:off x="5751684" y="2645262"/>
            <a:ext cx="1008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</a:rPr>
              <a:t>Pipeline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0" name="ZoneTexte 19"/>
          <p:cNvSpPr txBox="1"/>
          <p:nvPr/>
        </p:nvSpPr>
        <p:spPr>
          <a:xfrm>
            <a:off x="3354499" y="3622173"/>
            <a:ext cx="1336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 smtClean="0"/>
              <a:t>Pipeline.fit</a:t>
            </a:r>
            <a:endParaRPr lang="en-US" dirty="0"/>
          </a:p>
        </p:txBody>
      </p:sp>
      <p:sp>
        <p:nvSpPr>
          <p:cNvPr id="26" name="ZoneTexte 25"/>
          <p:cNvSpPr txBox="1"/>
          <p:nvPr/>
        </p:nvSpPr>
        <p:spPr>
          <a:xfrm>
            <a:off x="7774796" y="3675448"/>
            <a:ext cx="2107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 smtClean="0"/>
              <a:t>Pipeline.transform</a:t>
            </a:r>
            <a:endParaRPr lang="en-US" dirty="0"/>
          </a:p>
        </p:txBody>
      </p:sp>
      <p:sp>
        <p:nvSpPr>
          <p:cNvPr id="22" name="Flèche courbée vers la droite 21"/>
          <p:cNvSpPr/>
          <p:nvPr/>
        </p:nvSpPr>
        <p:spPr>
          <a:xfrm>
            <a:off x="7150778" y="2086120"/>
            <a:ext cx="885331" cy="3728122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Rectangle à coins arrondis 28"/>
          <p:cNvSpPr/>
          <p:nvPr/>
        </p:nvSpPr>
        <p:spPr>
          <a:xfrm>
            <a:off x="8134300" y="5208450"/>
            <a:ext cx="1923802" cy="97377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y </a:t>
            </a:r>
            <a:r>
              <a:rPr lang="fr-FR" dirty="0" err="1" smtClean="0"/>
              <a:t>pred</a:t>
            </a:r>
            <a:endParaRPr lang="en-US" dirty="0"/>
          </a:p>
        </p:txBody>
      </p:sp>
      <p:sp>
        <p:nvSpPr>
          <p:cNvPr id="33" name="Flèche courbée vers la droite 32"/>
          <p:cNvSpPr/>
          <p:nvPr/>
        </p:nvSpPr>
        <p:spPr>
          <a:xfrm flipH="1">
            <a:off x="4479604" y="2100634"/>
            <a:ext cx="885331" cy="3728122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Rectangle à coins arrondis 33"/>
          <p:cNvSpPr/>
          <p:nvPr/>
        </p:nvSpPr>
        <p:spPr>
          <a:xfrm>
            <a:off x="2460238" y="5208450"/>
            <a:ext cx="1923802" cy="973776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Train score</a:t>
            </a:r>
            <a:endParaRPr lang="en-US" dirty="0"/>
          </a:p>
        </p:txBody>
      </p:sp>
      <p:cxnSp>
        <p:nvCxnSpPr>
          <p:cNvPr id="35" name="Connecteur droit avec flèche 34"/>
          <p:cNvCxnSpPr>
            <a:stCxn id="15" idx="2"/>
            <a:endCxn id="16" idx="3"/>
          </p:cNvCxnSpPr>
          <p:nvPr/>
        </p:nvCxnSpPr>
        <p:spPr>
          <a:xfrm flipH="1">
            <a:off x="4575832" y="1156078"/>
            <a:ext cx="1680349" cy="6303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avec flèche 36"/>
          <p:cNvCxnSpPr>
            <a:stCxn id="15" idx="2"/>
            <a:endCxn id="17" idx="1"/>
          </p:cNvCxnSpPr>
          <p:nvPr/>
        </p:nvCxnSpPr>
        <p:spPr>
          <a:xfrm>
            <a:off x="6256181" y="1156078"/>
            <a:ext cx="1701865" cy="6323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ZoneTexte 37"/>
          <p:cNvSpPr txBox="1"/>
          <p:nvPr/>
        </p:nvSpPr>
        <p:spPr>
          <a:xfrm>
            <a:off x="5403196" y="1569390"/>
            <a:ext cx="1683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Train-test split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6904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192" y="1270000"/>
            <a:ext cx="9358592" cy="5317723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GHGEmissionsIntensity</a:t>
            </a:r>
            <a:endParaRPr lang="en-US" dirty="0"/>
          </a:p>
        </p:txBody>
      </p:sp>
      <p:sp>
        <p:nvSpPr>
          <p:cNvPr id="3" name="ZoneTexte 2"/>
          <p:cNvSpPr txBox="1"/>
          <p:nvPr/>
        </p:nvSpPr>
        <p:spPr>
          <a:xfrm>
            <a:off x="7894567" y="293469"/>
            <a:ext cx="3214341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dirty="0" smtClean="0"/>
              <a:t>9 </a:t>
            </a:r>
            <a:r>
              <a:rPr lang="fr-FR" dirty="0" err="1" smtClean="0"/>
              <a:t>models</a:t>
            </a:r>
            <a:r>
              <a:rPr lang="fr-FR" dirty="0" smtClean="0"/>
              <a:t> + </a:t>
            </a:r>
            <a:r>
              <a:rPr lang="fr-FR" dirty="0" err="1" smtClean="0"/>
              <a:t>dummy</a:t>
            </a:r>
            <a:r>
              <a:rPr lang="fr-FR" dirty="0" smtClean="0"/>
              <a:t> (</a:t>
            </a:r>
            <a:r>
              <a:rPr lang="fr-FR" dirty="0" err="1" smtClean="0"/>
              <a:t>mean</a:t>
            </a:r>
            <a:r>
              <a:rPr lang="fr-FR" dirty="0" smtClean="0"/>
              <a:t>)</a:t>
            </a:r>
          </a:p>
          <a:p>
            <a:pPr marL="285750" indent="-285750">
              <a:buFontTx/>
              <a:buChar char="-"/>
            </a:pPr>
            <a:r>
              <a:rPr lang="fr-FR" dirty="0" smtClean="0"/>
              <a:t>5 </a:t>
            </a:r>
            <a:r>
              <a:rPr lang="fr-FR" dirty="0" err="1" smtClean="0"/>
              <a:t>metrics</a:t>
            </a:r>
            <a:r>
              <a:rPr lang="fr-FR" dirty="0" smtClean="0"/>
              <a:t> + time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006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192" y="1270000"/>
            <a:ext cx="9358592" cy="5317723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GHGEmissionsIntensity</a:t>
            </a:r>
            <a:endParaRPr lang="en-US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1457731" y="1613646"/>
            <a:ext cx="5265798" cy="444947"/>
          </a:xfrm>
          <a:prstGeom prst="round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à coins arrondis 9"/>
          <p:cNvSpPr/>
          <p:nvPr/>
        </p:nvSpPr>
        <p:spPr>
          <a:xfrm>
            <a:off x="215564" y="1930400"/>
            <a:ext cx="1615045" cy="429598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 smtClean="0"/>
              <a:t>Overfitting</a:t>
            </a:r>
            <a:endParaRPr lang="en-US" dirty="0"/>
          </a:p>
        </p:txBody>
      </p:sp>
      <p:sp>
        <p:nvSpPr>
          <p:cNvPr id="12" name="Rectangle à coins arrondis 11"/>
          <p:cNvSpPr/>
          <p:nvPr/>
        </p:nvSpPr>
        <p:spPr>
          <a:xfrm>
            <a:off x="1457731" y="2137524"/>
            <a:ext cx="5265798" cy="444947"/>
          </a:xfrm>
          <a:prstGeom prst="round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à coins arrondis 12"/>
          <p:cNvSpPr/>
          <p:nvPr/>
        </p:nvSpPr>
        <p:spPr>
          <a:xfrm>
            <a:off x="1457731" y="4097117"/>
            <a:ext cx="5265798" cy="444947"/>
          </a:xfrm>
          <a:prstGeom prst="round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140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21" y="1769037"/>
            <a:ext cx="11762129" cy="3732666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GHGEmissionsIntensity</a:t>
            </a:r>
            <a:r>
              <a:rPr lang="en-US" dirty="0" smtClean="0"/>
              <a:t> - </a:t>
            </a:r>
            <a:r>
              <a:rPr lang="en-US" dirty="0" err="1" smtClean="0"/>
              <a:t>GridSearchCV</a:t>
            </a:r>
            <a:endParaRPr lang="en-US" dirty="0"/>
          </a:p>
        </p:txBody>
      </p:sp>
      <p:sp>
        <p:nvSpPr>
          <p:cNvPr id="9" name="Rectangle à coins arrondis 8"/>
          <p:cNvSpPr/>
          <p:nvPr/>
        </p:nvSpPr>
        <p:spPr>
          <a:xfrm>
            <a:off x="6293223" y="2775473"/>
            <a:ext cx="1011219" cy="93591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à coins arrondis 6"/>
          <p:cNvSpPr/>
          <p:nvPr/>
        </p:nvSpPr>
        <p:spPr>
          <a:xfrm>
            <a:off x="1818042" y="2775473"/>
            <a:ext cx="1785769" cy="93591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ZoneTexte 12"/>
          <p:cNvSpPr txBox="1"/>
          <p:nvPr/>
        </p:nvSpPr>
        <p:spPr>
          <a:xfrm>
            <a:off x="9274002" y="727654"/>
            <a:ext cx="2283254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dirty="0" smtClean="0"/>
              <a:t>Lasso : 0,629</a:t>
            </a:r>
          </a:p>
          <a:p>
            <a:pPr marL="285750" indent="-285750">
              <a:buFontTx/>
              <a:buChar char="-"/>
            </a:pPr>
            <a:r>
              <a:rPr lang="fr-FR" dirty="0" err="1" smtClean="0"/>
              <a:t>Ridge</a:t>
            </a:r>
            <a:r>
              <a:rPr lang="fr-FR" dirty="0" smtClean="0"/>
              <a:t> : 0,626</a:t>
            </a:r>
          </a:p>
          <a:p>
            <a:pPr marL="285750" indent="-285750">
              <a:buFontTx/>
              <a:buChar char="-"/>
            </a:pPr>
            <a:r>
              <a:rPr lang="fr-FR" dirty="0" err="1" smtClean="0"/>
              <a:t>LinearReg</a:t>
            </a:r>
            <a:r>
              <a:rPr lang="fr-FR" dirty="0" smtClean="0"/>
              <a:t> : 0,624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4277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21" y="1769037"/>
            <a:ext cx="11762129" cy="4237757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Feature</a:t>
            </a:r>
            <a:r>
              <a:rPr lang="fr-FR" dirty="0" smtClean="0"/>
              <a:t> </a:t>
            </a:r>
            <a:r>
              <a:rPr lang="fr-FR" dirty="0" err="1" smtClean="0"/>
              <a:t>selection</a:t>
            </a:r>
            <a:r>
              <a:rPr lang="fr-FR" dirty="0" smtClean="0"/>
              <a:t> - </a:t>
            </a:r>
            <a:r>
              <a:rPr lang="fr-FR" dirty="0" err="1" smtClean="0"/>
              <a:t>SelectFromModel</a:t>
            </a:r>
            <a:endParaRPr lang="en-US" dirty="0"/>
          </a:p>
        </p:txBody>
      </p:sp>
      <p:sp>
        <p:nvSpPr>
          <p:cNvPr id="8" name="Rectangle à coins arrondis 7"/>
          <p:cNvSpPr/>
          <p:nvPr/>
        </p:nvSpPr>
        <p:spPr>
          <a:xfrm>
            <a:off x="7292495" y="5009918"/>
            <a:ext cx="1080655" cy="389043"/>
          </a:xfrm>
          <a:prstGeom prst="roundRect">
            <a:avLst/>
          </a:prstGeom>
          <a:noFill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à coins arrondis 8"/>
          <p:cNvSpPr/>
          <p:nvPr/>
        </p:nvSpPr>
        <p:spPr>
          <a:xfrm>
            <a:off x="7320370" y="2282191"/>
            <a:ext cx="1024909" cy="32976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à coins arrondis 10"/>
          <p:cNvSpPr/>
          <p:nvPr/>
        </p:nvSpPr>
        <p:spPr>
          <a:xfrm>
            <a:off x="7320369" y="3182764"/>
            <a:ext cx="1024909" cy="32976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à coins arrondis 11"/>
          <p:cNvSpPr/>
          <p:nvPr/>
        </p:nvSpPr>
        <p:spPr>
          <a:xfrm>
            <a:off x="8345278" y="2578517"/>
            <a:ext cx="2244436" cy="6096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 smtClean="0"/>
              <a:t>Improvment</a:t>
            </a:r>
            <a:endParaRPr lang="en-US" dirty="0"/>
          </a:p>
        </p:txBody>
      </p:sp>
      <p:sp>
        <p:nvSpPr>
          <p:cNvPr id="15" name="ZoneTexte 14"/>
          <p:cNvSpPr txBox="1"/>
          <p:nvPr/>
        </p:nvSpPr>
        <p:spPr>
          <a:xfrm>
            <a:off x="2040482" y="5545129"/>
            <a:ext cx="2283254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dirty="0" smtClean="0"/>
              <a:t>Lasso : 0,629</a:t>
            </a:r>
          </a:p>
          <a:p>
            <a:pPr marL="285750" indent="-285750">
              <a:buFontTx/>
              <a:buChar char="-"/>
            </a:pPr>
            <a:r>
              <a:rPr lang="fr-FR" dirty="0" err="1" smtClean="0"/>
              <a:t>Ridge</a:t>
            </a:r>
            <a:r>
              <a:rPr lang="fr-FR" dirty="0" smtClean="0"/>
              <a:t> : 0,626</a:t>
            </a:r>
          </a:p>
          <a:p>
            <a:pPr marL="285750" indent="-285750">
              <a:buFontTx/>
              <a:buChar char="-"/>
            </a:pPr>
            <a:r>
              <a:rPr lang="fr-FR" dirty="0" err="1" smtClean="0"/>
              <a:t>LinearReg</a:t>
            </a:r>
            <a:r>
              <a:rPr lang="fr-FR" dirty="0" smtClean="0"/>
              <a:t> : 0,624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70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/>
          <p:cNvPicPr>
            <a:picLocks noChangeAspect="1"/>
          </p:cNvPicPr>
          <p:nvPr/>
        </p:nvPicPr>
        <p:blipFill rotWithShape="1">
          <a:blip r:embed="rId2"/>
          <a:srcRect b="77774"/>
          <a:stretch/>
        </p:blipFill>
        <p:spPr>
          <a:xfrm>
            <a:off x="200921" y="1769038"/>
            <a:ext cx="11762129" cy="941890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Feature</a:t>
            </a:r>
            <a:r>
              <a:rPr lang="fr-FR" dirty="0" smtClean="0"/>
              <a:t> </a:t>
            </a:r>
            <a:r>
              <a:rPr lang="fr-FR" dirty="0" err="1" smtClean="0"/>
              <a:t>selection</a:t>
            </a:r>
            <a:r>
              <a:rPr lang="fr-FR" dirty="0" smtClean="0"/>
              <a:t> - </a:t>
            </a:r>
            <a:r>
              <a:rPr lang="fr-FR" dirty="0" err="1" smtClean="0"/>
              <a:t>SelectFromModel</a:t>
            </a:r>
            <a:endParaRPr lang="en-US" dirty="0"/>
          </a:p>
        </p:txBody>
      </p:sp>
      <p:sp>
        <p:nvSpPr>
          <p:cNvPr id="9" name="Rectangle à coins arrondis 8"/>
          <p:cNvSpPr/>
          <p:nvPr/>
        </p:nvSpPr>
        <p:spPr>
          <a:xfrm>
            <a:off x="1102450" y="2259106"/>
            <a:ext cx="10860600" cy="39803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oneTexte 2"/>
          <p:cNvSpPr txBox="1"/>
          <p:nvPr/>
        </p:nvSpPr>
        <p:spPr>
          <a:xfrm>
            <a:off x="828339" y="2688326"/>
            <a:ext cx="1936749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fr-FR" dirty="0" err="1" smtClean="0"/>
              <a:t>Selected</a:t>
            </a:r>
            <a:r>
              <a:rPr lang="fr-FR" dirty="0" smtClean="0"/>
              <a:t> model :</a:t>
            </a:r>
          </a:p>
          <a:p>
            <a:pPr algn="ctr"/>
            <a:r>
              <a:rPr lang="fr-FR" dirty="0" smtClean="0"/>
              <a:t>Lasso</a:t>
            </a:r>
            <a:endParaRPr lang="en-US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3510" y="3039634"/>
            <a:ext cx="4767230" cy="3515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658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Feature</a:t>
            </a:r>
            <a:r>
              <a:rPr lang="fr-FR" dirty="0" smtClean="0"/>
              <a:t> importance </a:t>
            </a:r>
            <a:r>
              <a:rPr lang="fr-FR" dirty="0" err="1" smtClean="0"/>
              <a:t>with</a:t>
            </a:r>
            <a:r>
              <a:rPr lang="fr-FR" dirty="0" smtClean="0"/>
              <a:t> SHAP</a:t>
            </a:r>
            <a:endParaRPr lang="en-US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1839558" y="1323191"/>
            <a:ext cx="7143077" cy="5534809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665" y="1447800"/>
            <a:ext cx="6734175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33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à coins arrondis 7"/>
          <p:cNvSpPr/>
          <p:nvPr/>
        </p:nvSpPr>
        <p:spPr>
          <a:xfrm>
            <a:off x="135782" y="1649827"/>
            <a:ext cx="7068255" cy="4740215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ENERGYSTARScore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4037" y="3847077"/>
            <a:ext cx="3648075" cy="264795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4037" y="559363"/>
            <a:ext cx="3648075" cy="2647950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086" y="1799711"/>
            <a:ext cx="6734175" cy="4381500"/>
          </a:xfrm>
          <a:prstGeom prst="rect">
            <a:avLst/>
          </a:prstGeom>
        </p:spPr>
      </p:pic>
      <p:sp>
        <p:nvSpPr>
          <p:cNvPr id="7" name="Rectangle à coins arrondis 6"/>
          <p:cNvSpPr/>
          <p:nvPr/>
        </p:nvSpPr>
        <p:spPr>
          <a:xfrm>
            <a:off x="9815554" y="2932677"/>
            <a:ext cx="1861073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 smtClean="0"/>
              <a:t>From</a:t>
            </a:r>
            <a:r>
              <a:rPr lang="fr-FR" dirty="0" smtClean="0"/>
              <a:t> 0,675 to 0,779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306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Second </a:t>
            </a:r>
            <a:r>
              <a:rPr lang="fr-FR" dirty="0" err="1" smtClean="0"/>
              <a:t>target</a:t>
            </a:r>
            <a:r>
              <a:rPr lang="fr-FR" dirty="0" smtClean="0"/>
              <a:t> </a:t>
            </a:r>
            <a:r>
              <a:rPr lang="en-US" b="1" dirty="0" err="1"/>
              <a:t>SiteEUIWN</a:t>
            </a:r>
            <a:r>
              <a:rPr lang="en-US" b="1" dirty="0"/>
              <a:t>(</a:t>
            </a:r>
            <a:r>
              <a:rPr lang="en-US" b="1" dirty="0" err="1"/>
              <a:t>kBtu</a:t>
            </a:r>
            <a:r>
              <a:rPr lang="en-US" b="1" dirty="0"/>
              <a:t>/</a:t>
            </a:r>
            <a:r>
              <a:rPr lang="en-US" b="1" dirty="0" err="1"/>
              <a:t>sf</a:t>
            </a:r>
            <a:r>
              <a:rPr lang="en-US" b="1" dirty="0" smtClean="0"/>
              <a:t>)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 smtClean="0"/>
              <a:t>Same</a:t>
            </a:r>
            <a:r>
              <a:rPr lang="fr-FR" dirty="0" smtClean="0"/>
              <a:t> </a:t>
            </a:r>
            <a:r>
              <a:rPr lang="fr-FR" dirty="0" err="1" smtClean="0"/>
              <a:t>procedure</a:t>
            </a:r>
            <a:r>
              <a:rPr lang="fr-FR" dirty="0" smtClean="0"/>
              <a:t> :</a:t>
            </a:r>
          </a:p>
          <a:p>
            <a:pPr lvl="1"/>
            <a:r>
              <a:rPr lang="fr-FR" dirty="0" smtClean="0"/>
              <a:t>First </a:t>
            </a:r>
            <a:r>
              <a:rPr lang="fr-FR" dirty="0" err="1" smtClean="0"/>
              <a:t>try</a:t>
            </a:r>
            <a:endParaRPr lang="fr-FR" dirty="0" smtClean="0"/>
          </a:p>
          <a:p>
            <a:pPr lvl="1"/>
            <a:r>
              <a:rPr lang="fr-FR" dirty="0" err="1" smtClean="0"/>
              <a:t>SearchGridCV</a:t>
            </a:r>
            <a:r>
              <a:rPr lang="fr-FR" dirty="0" smtClean="0"/>
              <a:t>; </a:t>
            </a:r>
            <a:r>
              <a:rPr lang="fr-FR" dirty="0" err="1" smtClean="0"/>
              <a:t>hyperparameters</a:t>
            </a:r>
            <a:endParaRPr lang="fr-FR" dirty="0" smtClean="0"/>
          </a:p>
          <a:p>
            <a:pPr lvl="1"/>
            <a:r>
              <a:rPr lang="fr-FR" dirty="0" err="1" smtClean="0">
                <a:solidFill>
                  <a:schemeClr val="bg2"/>
                </a:solidFill>
              </a:rPr>
              <a:t>Feature</a:t>
            </a:r>
            <a:r>
              <a:rPr lang="fr-FR" dirty="0" smtClean="0">
                <a:solidFill>
                  <a:schemeClr val="bg2"/>
                </a:solidFill>
              </a:rPr>
              <a:t> </a:t>
            </a:r>
            <a:r>
              <a:rPr lang="fr-FR" dirty="0" err="1" smtClean="0">
                <a:solidFill>
                  <a:schemeClr val="bg2"/>
                </a:solidFill>
              </a:rPr>
              <a:t>selection</a:t>
            </a:r>
            <a:endParaRPr lang="fr-FR" dirty="0" smtClean="0">
              <a:solidFill>
                <a:schemeClr val="bg2"/>
              </a:solidFill>
            </a:endParaRPr>
          </a:p>
          <a:p>
            <a:pPr lvl="1"/>
            <a:r>
              <a:rPr lang="fr-FR" dirty="0" smtClean="0">
                <a:solidFill>
                  <a:schemeClr val="bg2"/>
                </a:solidFill>
              </a:rPr>
              <a:t>Fine </a:t>
            </a:r>
            <a:r>
              <a:rPr lang="fr-FR" dirty="0" err="1" smtClean="0">
                <a:solidFill>
                  <a:schemeClr val="bg2"/>
                </a:solidFill>
              </a:rPr>
              <a:t>tuning</a:t>
            </a:r>
            <a:r>
              <a:rPr lang="fr-FR" dirty="0" smtClean="0">
                <a:solidFill>
                  <a:schemeClr val="bg2"/>
                </a:solidFill>
              </a:rPr>
              <a:t> of </a:t>
            </a:r>
            <a:r>
              <a:rPr lang="fr-FR" dirty="0" err="1" smtClean="0">
                <a:solidFill>
                  <a:schemeClr val="bg2"/>
                </a:solidFill>
              </a:rPr>
              <a:t>hyperparameters</a:t>
            </a:r>
            <a:r>
              <a:rPr lang="fr-FR" dirty="0" smtClean="0">
                <a:solidFill>
                  <a:schemeClr val="bg2"/>
                </a:solidFill>
              </a:rPr>
              <a:t> of </a:t>
            </a:r>
            <a:r>
              <a:rPr lang="fr-FR" dirty="0" err="1" smtClean="0">
                <a:solidFill>
                  <a:schemeClr val="bg2"/>
                </a:solidFill>
              </a:rPr>
              <a:t>choosen</a:t>
            </a:r>
            <a:r>
              <a:rPr lang="fr-FR" dirty="0" smtClean="0">
                <a:solidFill>
                  <a:schemeClr val="bg2"/>
                </a:solidFill>
              </a:rPr>
              <a:t> model</a:t>
            </a:r>
          </a:p>
          <a:p>
            <a:pPr lvl="1"/>
            <a:r>
              <a:rPr lang="fr-FR" dirty="0" err="1" smtClean="0">
                <a:solidFill>
                  <a:schemeClr val="bg2"/>
                </a:solidFill>
              </a:rPr>
              <a:t>Feature</a:t>
            </a:r>
            <a:r>
              <a:rPr lang="fr-FR" dirty="0" smtClean="0">
                <a:solidFill>
                  <a:schemeClr val="bg2"/>
                </a:solidFill>
              </a:rPr>
              <a:t> importance</a:t>
            </a:r>
            <a:endParaRPr 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6162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GridSearchCV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454" y="2305512"/>
            <a:ext cx="11839575" cy="3590925"/>
          </a:xfrm>
          <a:prstGeom prst="rect">
            <a:avLst/>
          </a:prstGeom>
        </p:spPr>
      </p:pic>
      <p:sp>
        <p:nvSpPr>
          <p:cNvPr id="5" name="Rectangle à coins arrondis 4"/>
          <p:cNvSpPr/>
          <p:nvPr/>
        </p:nvSpPr>
        <p:spPr>
          <a:xfrm>
            <a:off x="6239435" y="3541118"/>
            <a:ext cx="1118796" cy="132133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à coins arrondis 5"/>
          <p:cNvSpPr/>
          <p:nvPr/>
        </p:nvSpPr>
        <p:spPr>
          <a:xfrm>
            <a:off x="1570616" y="3541118"/>
            <a:ext cx="1979407" cy="132133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ZoneTexte 6"/>
          <p:cNvSpPr txBox="1"/>
          <p:nvPr/>
        </p:nvSpPr>
        <p:spPr>
          <a:xfrm>
            <a:off x="9220214" y="1493299"/>
            <a:ext cx="2310248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dirty="0" err="1" smtClean="0"/>
              <a:t>Ridge</a:t>
            </a:r>
            <a:r>
              <a:rPr lang="fr-FR" dirty="0" smtClean="0"/>
              <a:t> : 0,497</a:t>
            </a:r>
          </a:p>
          <a:p>
            <a:pPr marL="285750" indent="-285750">
              <a:buFontTx/>
              <a:buChar char="-"/>
            </a:pPr>
            <a:r>
              <a:rPr lang="fr-FR" dirty="0" err="1" smtClean="0"/>
              <a:t>LinearReg</a:t>
            </a:r>
            <a:r>
              <a:rPr lang="fr-FR" dirty="0" smtClean="0"/>
              <a:t> : 0,491</a:t>
            </a:r>
          </a:p>
          <a:p>
            <a:pPr marL="285750" indent="-285750">
              <a:buFontTx/>
              <a:buChar char="-"/>
            </a:pPr>
            <a:r>
              <a:rPr lang="fr-FR" dirty="0" smtClean="0"/>
              <a:t>Lasso : 0,483</a:t>
            </a:r>
          </a:p>
          <a:p>
            <a:pPr marL="285750" indent="-285750">
              <a:buFontTx/>
              <a:buChar char="-"/>
            </a:pPr>
            <a:r>
              <a:rPr lang="fr-FR" dirty="0" err="1" smtClean="0"/>
              <a:t>ElasticNet</a:t>
            </a:r>
            <a:r>
              <a:rPr lang="fr-FR" dirty="0" smtClean="0"/>
              <a:t> : 0,470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6108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Second </a:t>
            </a:r>
            <a:r>
              <a:rPr lang="fr-FR" dirty="0" err="1" smtClean="0"/>
              <a:t>target</a:t>
            </a:r>
            <a:r>
              <a:rPr lang="fr-FR" dirty="0" smtClean="0"/>
              <a:t> </a:t>
            </a:r>
            <a:r>
              <a:rPr lang="en-US" b="1" dirty="0" err="1"/>
              <a:t>SiteEUIWN</a:t>
            </a:r>
            <a:r>
              <a:rPr lang="en-US" b="1" dirty="0"/>
              <a:t>(</a:t>
            </a:r>
            <a:r>
              <a:rPr lang="en-US" b="1" dirty="0" err="1"/>
              <a:t>kBtu</a:t>
            </a:r>
            <a:r>
              <a:rPr lang="en-US" b="1" dirty="0"/>
              <a:t>/</a:t>
            </a:r>
            <a:r>
              <a:rPr lang="en-US" b="1" dirty="0" err="1"/>
              <a:t>sf</a:t>
            </a:r>
            <a:r>
              <a:rPr lang="en-US" b="1" dirty="0" smtClean="0"/>
              <a:t>)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 smtClean="0"/>
              <a:t>Same</a:t>
            </a:r>
            <a:r>
              <a:rPr lang="fr-FR" dirty="0" smtClean="0"/>
              <a:t> </a:t>
            </a:r>
            <a:r>
              <a:rPr lang="fr-FR" dirty="0" err="1" smtClean="0"/>
              <a:t>procedure</a:t>
            </a:r>
            <a:r>
              <a:rPr lang="fr-FR" dirty="0" smtClean="0"/>
              <a:t> :</a:t>
            </a:r>
          </a:p>
          <a:p>
            <a:pPr lvl="1"/>
            <a:r>
              <a:rPr lang="fr-FR" dirty="0" smtClean="0"/>
              <a:t>First </a:t>
            </a:r>
            <a:r>
              <a:rPr lang="fr-FR" dirty="0" err="1" smtClean="0"/>
              <a:t>try</a:t>
            </a:r>
            <a:endParaRPr lang="fr-FR" dirty="0" smtClean="0"/>
          </a:p>
          <a:p>
            <a:pPr lvl="1"/>
            <a:r>
              <a:rPr lang="fr-FR" dirty="0" err="1" smtClean="0"/>
              <a:t>SearchGridCV</a:t>
            </a:r>
            <a:r>
              <a:rPr lang="fr-FR" dirty="0" smtClean="0"/>
              <a:t>; </a:t>
            </a:r>
            <a:r>
              <a:rPr lang="fr-FR" dirty="0" err="1" smtClean="0"/>
              <a:t>hyperparameters</a:t>
            </a:r>
            <a:endParaRPr lang="fr-FR" dirty="0" smtClean="0"/>
          </a:p>
          <a:p>
            <a:pPr lvl="1"/>
            <a:r>
              <a:rPr lang="fr-FR" dirty="0" err="1" smtClean="0">
                <a:solidFill>
                  <a:schemeClr val="tx1"/>
                </a:solidFill>
              </a:rPr>
              <a:t>Feature</a:t>
            </a:r>
            <a:r>
              <a:rPr lang="fr-FR" dirty="0" smtClean="0">
                <a:solidFill>
                  <a:schemeClr val="tx1"/>
                </a:solidFill>
              </a:rPr>
              <a:t> </a:t>
            </a:r>
            <a:r>
              <a:rPr lang="fr-FR" dirty="0" err="1" smtClean="0">
                <a:solidFill>
                  <a:schemeClr val="tx1"/>
                </a:solidFill>
              </a:rPr>
              <a:t>selection</a:t>
            </a:r>
            <a:endParaRPr lang="fr-FR" dirty="0" smtClean="0">
              <a:solidFill>
                <a:schemeClr val="tx1"/>
              </a:solidFill>
            </a:endParaRPr>
          </a:p>
          <a:p>
            <a:pPr lvl="1"/>
            <a:r>
              <a:rPr lang="fr-FR" dirty="0" smtClean="0">
                <a:solidFill>
                  <a:schemeClr val="bg2"/>
                </a:solidFill>
              </a:rPr>
              <a:t>Fine </a:t>
            </a:r>
            <a:r>
              <a:rPr lang="fr-FR" dirty="0" err="1" smtClean="0">
                <a:solidFill>
                  <a:schemeClr val="bg2"/>
                </a:solidFill>
              </a:rPr>
              <a:t>tuning</a:t>
            </a:r>
            <a:r>
              <a:rPr lang="fr-FR" dirty="0" smtClean="0">
                <a:solidFill>
                  <a:schemeClr val="bg2"/>
                </a:solidFill>
              </a:rPr>
              <a:t> of </a:t>
            </a:r>
            <a:r>
              <a:rPr lang="fr-FR" dirty="0" err="1" smtClean="0">
                <a:solidFill>
                  <a:schemeClr val="bg2"/>
                </a:solidFill>
              </a:rPr>
              <a:t>hyperparameters</a:t>
            </a:r>
            <a:r>
              <a:rPr lang="fr-FR" dirty="0" smtClean="0">
                <a:solidFill>
                  <a:schemeClr val="bg2"/>
                </a:solidFill>
              </a:rPr>
              <a:t> of </a:t>
            </a:r>
            <a:r>
              <a:rPr lang="fr-FR" dirty="0" err="1" smtClean="0">
                <a:solidFill>
                  <a:schemeClr val="bg2"/>
                </a:solidFill>
              </a:rPr>
              <a:t>choosen</a:t>
            </a:r>
            <a:r>
              <a:rPr lang="fr-FR" dirty="0" smtClean="0">
                <a:solidFill>
                  <a:schemeClr val="bg2"/>
                </a:solidFill>
              </a:rPr>
              <a:t> model</a:t>
            </a:r>
          </a:p>
          <a:p>
            <a:pPr lvl="1"/>
            <a:r>
              <a:rPr lang="fr-FR" dirty="0" err="1" smtClean="0">
                <a:solidFill>
                  <a:schemeClr val="bg2"/>
                </a:solidFill>
              </a:rPr>
              <a:t>Feature</a:t>
            </a:r>
            <a:r>
              <a:rPr lang="fr-FR" dirty="0" smtClean="0">
                <a:solidFill>
                  <a:schemeClr val="bg2"/>
                </a:solidFill>
              </a:rPr>
              <a:t> importance</a:t>
            </a:r>
            <a:endParaRPr 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6212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Feature</a:t>
            </a:r>
            <a:r>
              <a:rPr lang="fr-FR" dirty="0" smtClean="0"/>
              <a:t> </a:t>
            </a:r>
            <a:r>
              <a:rPr lang="fr-FR" dirty="0" err="1" smtClean="0"/>
              <a:t>selection</a:t>
            </a:r>
            <a:r>
              <a:rPr lang="fr-FR" dirty="0" smtClean="0"/>
              <a:t> - </a:t>
            </a:r>
            <a:r>
              <a:rPr lang="fr-FR" dirty="0" err="1" smtClean="0"/>
              <a:t>SelectFromModel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860" y="1981662"/>
            <a:ext cx="11934825" cy="4238625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9274002" y="1181327"/>
            <a:ext cx="2310248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dirty="0" err="1" smtClean="0"/>
              <a:t>Ridge</a:t>
            </a:r>
            <a:r>
              <a:rPr lang="fr-FR" dirty="0" smtClean="0"/>
              <a:t> : 0,497</a:t>
            </a:r>
          </a:p>
          <a:p>
            <a:pPr marL="285750" indent="-285750">
              <a:buFontTx/>
              <a:buChar char="-"/>
            </a:pPr>
            <a:r>
              <a:rPr lang="fr-FR" dirty="0" err="1" smtClean="0"/>
              <a:t>LinearReg</a:t>
            </a:r>
            <a:r>
              <a:rPr lang="fr-FR" dirty="0" smtClean="0"/>
              <a:t> : 0,491</a:t>
            </a:r>
          </a:p>
          <a:p>
            <a:pPr marL="285750" indent="-285750">
              <a:buFontTx/>
              <a:buChar char="-"/>
            </a:pPr>
            <a:r>
              <a:rPr lang="fr-FR" dirty="0" smtClean="0"/>
              <a:t>Lasso : 0,483</a:t>
            </a:r>
          </a:p>
          <a:p>
            <a:pPr marL="285750" indent="-285750">
              <a:buFontTx/>
              <a:buChar char="-"/>
            </a:pPr>
            <a:r>
              <a:rPr lang="fr-FR" dirty="0" err="1" smtClean="0"/>
              <a:t>ElasticNet</a:t>
            </a:r>
            <a:r>
              <a:rPr lang="fr-FR" dirty="0" smtClean="0"/>
              <a:t> : 0,470</a:t>
            </a:r>
            <a:endParaRPr lang="en-US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7336715" y="3358238"/>
            <a:ext cx="1118796" cy="1869978"/>
          </a:xfrm>
          <a:prstGeom prst="round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à coins arrondis 7"/>
          <p:cNvSpPr/>
          <p:nvPr/>
        </p:nvSpPr>
        <p:spPr>
          <a:xfrm>
            <a:off x="8356036" y="4974678"/>
            <a:ext cx="2244436" cy="6096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No </a:t>
            </a:r>
            <a:r>
              <a:rPr lang="fr-FR" dirty="0" err="1" smtClean="0"/>
              <a:t>improvment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388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à coins arrondis 5"/>
          <p:cNvSpPr/>
          <p:nvPr/>
        </p:nvSpPr>
        <p:spPr>
          <a:xfrm>
            <a:off x="4645568" y="1270000"/>
            <a:ext cx="7143077" cy="5534809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Second </a:t>
            </a:r>
            <a:r>
              <a:rPr lang="fr-FR" dirty="0" err="1" smtClean="0"/>
              <a:t>target</a:t>
            </a:r>
            <a:r>
              <a:rPr lang="fr-FR" dirty="0" smtClean="0"/>
              <a:t> </a:t>
            </a:r>
            <a:r>
              <a:rPr lang="en-US" b="1" dirty="0" err="1"/>
              <a:t>SiteEUIWN</a:t>
            </a:r>
            <a:r>
              <a:rPr lang="en-US" b="1" dirty="0"/>
              <a:t>(</a:t>
            </a:r>
            <a:r>
              <a:rPr lang="en-US" b="1" dirty="0" err="1"/>
              <a:t>kBtu</a:t>
            </a:r>
            <a:r>
              <a:rPr lang="en-US" b="1" dirty="0"/>
              <a:t>/</a:t>
            </a:r>
            <a:r>
              <a:rPr lang="en-US" b="1" dirty="0" err="1"/>
              <a:t>sf</a:t>
            </a:r>
            <a:r>
              <a:rPr lang="en-US" b="1" dirty="0" smtClean="0"/>
              <a:t>)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 smtClean="0"/>
              <a:t>Same</a:t>
            </a:r>
            <a:r>
              <a:rPr lang="fr-FR" dirty="0" smtClean="0"/>
              <a:t> </a:t>
            </a:r>
            <a:r>
              <a:rPr lang="fr-FR" dirty="0" err="1" smtClean="0"/>
              <a:t>procedure</a:t>
            </a:r>
            <a:r>
              <a:rPr lang="fr-FR" dirty="0" smtClean="0"/>
              <a:t> :</a:t>
            </a:r>
          </a:p>
          <a:p>
            <a:pPr lvl="1"/>
            <a:r>
              <a:rPr lang="fr-FR" dirty="0" smtClean="0"/>
              <a:t>First </a:t>
            </a:r>
            <a:r>
              <a:rPr lang="fr-FR" dirty="0" err="1" smtClean="0"/>
              <a:t>try</a:t>
            </a:r>
            <a:endParaRPr lang="fr-FR" dirty="0" smtClean="0"/>
          </a:p>
          <a:p>
            <a:pPr lvl="1"/>
            <a:r>
              <a:rPr lang="fr-FR" dirty="0" err="1" smtClean="0"/>
              <a:t>SearchGridCV</a:t>
            </a:r>
            <a:r>
              <a:rPr lang="fr-FR" dirty="0" smtClean="0"/>
              <a:t>; </a:t>
            </a:r>
            <a:r>
              <a:rPr lang="fr-FR" dirty="0" err="1" smtClean="0"/>
              <a:t>hyperparameters</a:t>
            </a:r>
            <a:endParaRPr lang="fr-FR" dirty="0" smtClean="0"/>
          </a:p>
          <a:p>
            <a:pPr lvl="1"/>
            <a:r>
              <a:rPr lang="fr-FR" dirty="0" err="1" smtClean="0">
                <a:solidFill>
                  <a:schemeClr val="tx1"/>
                </a:solidFill>
              </a:rPr>
              <a:t>Feature</a:t>
            </a:r>
            <a:r>
              <a:rPr lang="fr-FR" dirty="0" smtClean="0">
                <a:solidFill>
                  <a:schemeClr val="tx1"/>
                </a:solidFill>
              </a:rPr>
              <a:t> </a:t>
            </a:r>
            <a:r>
              <a:rPr lang="fr-FR" dirty="0" err="1" smtClean="0">
                <a:solidFill>
                  <a:schemeClr val="tx1"/>
                </a:solidFill>
              </a:rPr>
              <a:t>selection</a:t>
            </a:r>
            <a:endParaRPr lang="fr-FR" dirty="0" smtClean="0">
              <a:solidFill>
                <a:schemeClr val="tx1"/>
              </a:solidFill>
            </a:endParaRPr>
          </a:p>
          <a:p>
            <a:pPr lvl="1"/>
            <a:r>
              <a:rPr lang="fr-FR" dirty="0" err="1" smtClean="0">
                <a:solidFill>
                  <a:schemeClr val="tx1"/>
                </a:solidFill>
              </a:rPr>
              <a:t>Feature</a:t>
            </a:r>
            <a:r>
              <a:rPr lang="fr-FR" dirty="0" smtClean="0">
                <a:solidFill>
                  <a:schemeClr val="tx1"/>
                </a:solidFill>
              </a:rPr>
              <a:t> </a:t>
            </a:r>
            <a:r>
              <a:rPr lang="fr-FR" dirty="0" smtClean="0">
                <a:solidFill>
                  <a:schemeClr val="tx1"/>
                </a:solidFill>
              </a:rPr>
              <a:t>importance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1883499" y="4387106"/>
            <a:ext cx="2310248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b="1" dirty="0" err="1" smtClean="0"/>
              <a:t>Ridge</a:t>
            </a:r>
            <a:r>
              <a:rPr lang="fr-FR" b="1" dirty="0" smtClean="0"/>
              <a:t> : 0,497</a:t>
            </a:r>
          </a:p>
          <a:p>
            <a:pPr marL="285750" indent="-285750">
              <a:buFontTx/>
              <a:buChar char="-"/>
            </a:pPr>
            <a:r>
              <a:rPr lang="fr-FR" dirty="0" err="1" smtClean="0">
                <a:solidFill>
                  <a:schemeClr val="accent2"/>
                </a:solidFill>
              </a:rPr>
              <a:t>LinearReg</a:t>
            </a:r>
            <a:r>
              <a:rPr lang="fr-FR" dirty="0" smtClean="0">
                <a:solidFill>
                  <a:schemeClr val="accent2"/>
                </a:solidFill>
              </a:rPr>
              <a:t> : 0,491</a:t>
            </a:r>
          </a:p>
          <a:p>
            <a:pPr marL="285750" indent="-285750">
              <a:buFontTx/>
              <a:buChar char="-"/>
            </a:pPr>
            <a:r>
              <a:rPr lang="fr-FR" dirty="0" smtClean="0">
                <a:solidFill>
                  <a:schemeClr val="accent2"/>
                </a:solidFill>
              </a:rPr>
              <a:t>Lasso : 0,483</a:t>
            </a:r>
          </a:p>
          <a:p>
            <a:pPr marL="285750" indent="-285750">
              <a:buFontTx/>
              <a:buChar char="-"/>
            </a:pPr>
            <a:r>
              <a:rPr lang="fr-FR" dirty="0" err="1" smtClean="0">
                <a:solidFill>
                  <a:schemeClr val="accent2"/>
                </a:solidFill>
              </a:rPr>
              <a:t>ElasticNet</a:t>
            </a:r>
            <a:r>
              <a:rPr lang="fr-FR" dirty="0" smtClean="0">
                <a:solidFill>
                  <a:schemeClr val="accent2"/>
                </a:solidFill>
              </a:rPr>
              <a:t> : 0,470</a:t>
            </a:r>
            <a:endParaRPr lang="en-US" dirty="0">
              <a:solidFill>
                <a:schemeClr val="accent2"/>
              </a:solidFill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5668" y="1395875"/>
            <a:ext cx="621030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04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à coins arrondis 7"/>
          <p:cNvSpPr/>
          <p:nvPr/>
        </p:nvSpPr>
        <p:spPr>
          <a:xfrm>
            <a:off x="537882" y="1649827"/>
            <a:ext cx="6433073" cy="511679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ENERGYSTARScore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1649827"/>
            <a:ext cx="5873505" cy="5116796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4037" y="3847077"/>
            <a:ext cx="3705225" cy="2647950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4037" y="570476"/>
            <a:ext cx="3705225" cy="2647950"/>
          </a:xfrm>
          <a:prstGeom prst="rect">
            <a:avLst/>
          </a:prstGeom>
        </p:spPr>
      </p:pic>
      <p:sp>
        <p:nvSpPr>
          <p:cNvPr id="7" name="Rectangle à coins arrondis 6"/>
          <p:cNvSpPr/>
          <p:nvPr/>
        </p:nvSpPr>
        <p:spPr>
          <a:xfrm>
            <a:off x="9903106" y="2932677"/>
            <a:ext cx="1861073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 smtClean="0"/>
              <a:t>From</a:t>
            </a:r>
            <a:r>
              <a:rPr lang="fr-FR" dirty="0" smtClean="0"/>
              <a:t> 0,694 to 0,843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2537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Conclusion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fr-FR" dirty="0" smtClean="0"/>
          </a:p>
          <a:p>
            <a:endParaRPr lang="fr-FR" dirty="0"/>
          </a:p>
          <a:p>
            <a:pPr marL="0" indent="0">
              <a:buNone/>
            </a:pPr>
            <a:endParaRPr lang="fr-FR" dirty="0"/>
          </a:p>
          <a:p>
            <a:endParaRPr lang="fr-FR" dirty="0" smtClean="0"/>
          </a:p>
          <a:p>
            <a:r>
              <a:rPr lang="fr-FR" dirty="0" err="1" smtClean="0"/>
              <a:t>ENERGYSTARScore</a:t>
            </a:r>
            <a:r>
              <a:rPr lang="fr-FR" dirty="0" smtClean="0"/>
              <a:t> </a:t>
            </a:r>
            <a:r>
              <a:rPr lang="fr-FR" dirty="0" err="1" smtClean="0"/>
              <a:t>improve</a:t>
            </a:r>
            <a:r>
              <a:rPr lang="fr-FR" dirty="0" smtClean="0"/>
              <a:t> </a:t>
            </a:r>
            <a:r>
              <a:rPr lang="fr-FR" dirty="0" err="1" smtClean="0"/>
              <a:t>modelisation</a:t>
            </a:r>
            <a:endParaRPr lang="fr-FR" dirty="0" smtClean="0"/>
          </a:p>
          <a:p>
            <a:pPr marL="0" indent="0">
              <a:buNone/>
            </a:pPr>
            <a:endParaRPr lang="fr-FR" dirty="0" smtClean="0"/>
          </a:p>
          <a:p>
            <a:r>
              <a:rPr lang="fr-FR" dirty="0" err="1" smtClean="0"/>
              <a:t>Improvments</a:t>
            </a:r>
            <a:r>
              <a:rPr lang="fr-FR" dirty="0" smtClean="0"/>
              <a:t> </a:t>
            </a:r>
            <a:r>
              <a:rPr lang="fr-FR" dirty="0" smtClean="0"/>
              <a:t>:</a:t>
            </a:r>
          </a:p>
          <a:p>
            <a:pPr lvl="1"/>
            <a:r>
              <a:rPr lang="fr-FR" dirty="0" err="1" smtClean="0"/>
              <a:t>Feature</a:t>
            </a:r>
            <a:r>
              <a:rPr lang="fr-FR" dirty="0" smtClean="0"/>
              <a:t> </a:t>
            </a:r>
            <a:r>
              <a:rPr lang="fr-FR" dirty="0" smtClean="0"/>
              <a:t>engineering (</a:t>
            </a:r>
            <a:r>
              <a:rPr lang="fr-FR" dirty="0" err="1" smtClean="0"/>
              <a:t>feature</a:t>
            </a:r>
            <a:r>
              <a:rPr lang="fr-FR" dirty="0" smtClean="0"/>
              <a:t> importance, </a:t>
            </a:r>
            <a:r>
              <a:rPr lang="fr-FR" dirty="0" err="1" smtClean="0"/>
              <a:t>PrimaryPropertyType</a:t>
            </a:r>
            <a:r>
              <a:rPr lang="fr-FR" dirty="0" smtClean="0"/>
              <a:t>)</a:t>
            </a:r>
          </a:p>
          <a:p>
            <a:pPr lvl="1"/>
            <a:r>
              <a:rPr lang="fr-FR" dirty="0" err="1" smtClean="0"/>
              <a:t>Preprocessing</a:t>
            </a:r>
            <a:r>
              <a:rPr lang="fr-FR" dirty="0" smtClean="0"/>
              <a:t> (</a:t>
            </a:r>
            <a:r>
              <a:rPr lang="fr-FR" dirty="0" err="1" smtClean="0"/>
              <a:t>StandardScaler</a:t>
            </a:r>
            <a:r>
              <a:rPr lang="fr-FR" dirty="0" smtClean="0"/>
              <a:t>, </a:t>
            </a:r>
            <a:r>
              <a:rPr lang="fr-FR" dirty="0" err="1" smtClean="0"/>
              <a:t>PolynomialFeature</a:t>
            </a:r>
            <a:r>
              <a:rPr lang="fr-FR" dirty="0" smtClean="0"/>
              <a:t>)</a:t>
            </a:r>
          </a:p>
          <a:p>
            <a:pPr lvl="1"/>
            <a:endParaRPr lang="fr-FR" dirty="0" smtClean="0"/>
          </a:p>
          <a:p>
            <a:pPr lvl="1"/>
            <a:endParaRPr lang="fr-FR" dirty="0" smtClean="0"/>
          </a:p>
          <a:p>
            <a:pPr lvl="1"/>
            <a:endParaRPr lang="fr-FR" dirty="0" smtClean="0"/>
          </a:p>
          <a:p>
            <a:endParaRPr lang="fr-FR" dirty="0"/>
          </a:p>
          <a:p>
            <a:endParaRPr lang="en-US" dirty="0"/>
          </a:p>
        </p:txBody>
      </p:sp>
      <p:graphicFrame>
        <p:nvGraphicFramePr>
          <p:cNvPr id="6" name="Tableau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7108033"/>
              </p:ext>
            </p:extLst>
          </p:nvPr>
        </p:nvGraphicFramePr>
        <p:xfrm>
          <a:off x="2221470" y="1485785"/>
          <a:ext cx="6482038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2995"/>
                <a:gridCol w="1737043"/>
                <a:gridCol w="2032000"/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 smtClean="0"/>
                        <a:t>GHGEmissions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 smtClean="0"/>
                        <a:t>EnergyUse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smtClean="0"/>
                        <a:t>Best model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Lasso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 smtClean="0"/>
                        <a:t>Ridge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err="1" smtClean="0"/>
                        <a:t>Hyperparameter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 smtClean="0"/>
                        <a:t>α</a:t>
                      </a:r>
                      <a:r>
                        <a:rPr lang="fr-FR" dirty="0" smtClean="0"/>
                        <a:t> = 0,002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 smtClean="0"/>
                        <a:t>α</a:t>
                      </a:r>
                      <a:r>
                        <a:rPr lang="fr-FR" dirty="0" smtClean="0"/>
                        <a:t> = 1,0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smtClean="0"/>
                        <a:t>R²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0,675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0,694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smtClean="0"/>
                        <a:t>R² </a:t>
                      </a:r>
                      <a:r>
                        <a:rPr lang="fr-FR" dirty="0" err="1" smtClean="0"/>
                        <a:t>with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ENERGYSTARScore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0,779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0,843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5018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5" name="Sous-titr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Any questions 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621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10776</TotalTime>
  <Words>375</Words>
  <Application>Microsoft Office PowerPoint</Application>
  <PresentationFormat>Grand écran</PresentationFormat>
  <Paragraphs>192</Paragraphs>
  <Slides>27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32" baseType="lpstr">
      <vt:lpstr>Arial</vt:lpstr>
      <vt:lpstr>Trebuchet MS</vt:lpstr>
      <vt:lpstr>Wingdings</vt:lpstr>
      <vt:lpstr>Wingdings 3</vt:lpstr>
      <vt:lpstr>Facette</vt:lpstr>
      <vt:lpstr>P4 : Anticipez les besoins en consommation de bâtiments</vt:lpstr>
      <vt:lpstr>Context</vt:lpstr>
      <vt:lpstr>DataSet Presentation</vt:lpstr>
      <vt:lpstr>Cleaning – main steps</vt:lpstr>
      <vt:lpstr>Outliers Energy</vt:lpstr>
      <vt:lpstr>Cleaning – main steps</vt:lpstr>
      <vt:lpstr>Feature engineering</vt:lpstr>
      <vt:lpstr>Feature selection</vt:lpstr>
      <vt:lpstr>Feature selection</vt:lpstr>
      <vt:lpstr>Preprocessor</vt:lpstr>
      <vt:lpstr>Modelisation</vt:lpstr>
      <vt:lpstr>Pipeline</vt:lpstr>
      <vt:lpstr>GHGEmissionsIntensity</vt:lpstr>
      <vt:lpstr>GHGEmissionsIntensity</vt:lpstr>
      <vt:lpstr>GHGEmissionsIntensity - GridSearchCV</vt:lpstr>
      <vt:lpstr>Feature selection - SelectFromModel</vt:lpstr>
      <vt:lpstr>Feature selection - SelectFromModel</vt:lpstr>
      <vt:lpstr>Feature importance with SHAP</vt:lpstr>
      <vt:lpstr>ENERGYSTARScore</vt:lpstr>
      <vt:lpstr>Second target SiteEUIWN(kBtu/sf)</vt:lpstr>
      <vt:lpstr>GridSearchCV</vt:lpstr>
      <vt:lpstr>Second target SiteEUIWN(kBtu/sf)</vt:lpstr>
      <vt:lpstr>Feature selection - SelectFromModel</vt:lpstr>
      <vt:lpstr>Second target SiteEUIWN(kBtu/sf)</vt:lpstr>
      <vt:lpstr>ENERGYSTARScore</vt:lpstr>
      <vt:lpstr>Conclusion</vt:lpstr>
      <vt:lpstr>Thank you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P3 : Concevez une application au service de la santé publique</dc:title>
  <dc:creator>Aline</dc:creator>
  <cp:lastModifiedBy>Aline</cp:lastModifiedBy>
  <cp:revision>172</cp:revision>
  <dcterms:created xsi:type="dcterms:W3CDTF">2022-07-01T09:05:52Z</dcterms:created>
  <dcterms:modified xsi:type="dcterms:W3CDTF">2022-09-02T21:06:24Z</dcterms:modified>
</cp:coreProperties>
</file>